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70" r:id="rId10"/>
    <p:sldId id="271" r:id="rId11"/>
    <p:sldId id="276" r:id="rId12"/>
    <p:sldId id="277" r:id="rId13"/>
    <p:sldId id="264" r:id="rId14"/>
    <p:sldId id="268" r:id="rId15"/>
    <p:sldId id="269" r:id="rId16"/>
    <p:sldId id="265" r:id="rId17"/>
    <p:sldId id="266" r:id="rId18"/>
    <p:sldId id="272" r:id="rId19"/>
    <p:sldId id="273" r:id="rId20"/>
    <p:sldId id="274" r:id="rId21"/>
    <p:sldId id="283" r:id="rId22"/>
    <p:sldId id="284" r:id="rId23"/>
    <p:sldId id="275" r:id="rId24"/>
    <p:sldId id="278" r:id="rId25"/>
    <p:sldId id="279" r:id="rId26"/>
    <p:sldId id="280" r:id="rId27"/>
    <p:sldId id="281" r:id="rId28"/>
    <p:sldId id="282" r:id="rId29"/>
    <p:sldId id="285" r:id="rId30"/>
    <p:sldId id="287" r:id="rId31"/>
    <p:sldId id="286" r:id="rId32"/>
    <p:sldId id="288" r:id="rId33"/>
    <p:sldId id="290" r:id="rId34"/>
    <p:sldId id="289" r:id="rId35"/>
    <p:sldId id="291" r:id="rId36"/>
    <p:sldId id="293" r:id="rId37"/>
    <p:sldId id="292" r:id="rId3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25F3B1-DB99-2023-4356-67E63600E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959194C-DE7E-5B13-0607-FE89CDCF8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24F8D3F-2E34-44C4-0607-A91618D48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5E8ED8B-7438-BD08-F69A-C1AD2808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A006B6F-05BF-C72C-857F-82CF76DA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311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058B822-7BCD-D86F-B21C-9C9B1DD1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F410C1-DBFE-57B6-4EA5-78506A9CF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FB692AC-C445-E8EB-1C40-AB078089F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711E351-23EE-A2CE-00FF-893D78D8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D925E2A-3C70-2BC8-7BE3-CA20E3DB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504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DD864B-E175-B65D-3A23-6A060EA95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766269F-5240-A8FB-9948-605648ED1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1832A88-1259-25B5-860B-13D78D3CA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F9C4F60-2D01-2AFC-1873-445490B1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591470E-746F-8070-B194-D9886888F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0355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DAB362-24B2-EA0C-2D8A-4349F1B6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77C63F-F0E5-4CC2-B543-4D7320F61D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A6C56E1D-C5BC-09A7-3015-558FE1DD8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E29B56C-5934-D03D-5404-4B7EC0376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B683D29-AF71-838F-9B9D-EC72E9558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A3FC2D2-A1B0-5257-7440-ACCA4198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491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D81247E-5C72-726A-5D24-7EA9CD91F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F15DCF5-F0CF-1D02-859F-D31441092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CB20FC1-E02F-E1C0-7A38-0B73FA831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E7CDBEC-115B-F960-9A65-39F5CAEE3B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6FDB2E4D-E54A-50D7-7CA2-322520DDF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F72B51AF-62A7-9C45-5FAD-5D313C9B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EDE8EFC-B99F-93C6-04AA-EE23EFACA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D1A1266-CB60-5B9B-5505-B31F30E6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280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3789C7-5C26-ADEA-04D9-901FE1DD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FA1D859-3B72-3B1A-743A-00B7E4783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92C6625-571E-6D34-1915-889D8153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6BF1578-5CFB-3C17-6ECA-C53CF4EE2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8197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0D1636C-BED4-8529-CA83-DDA7E25B1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F889F7A0-1B5E-E5FE-CBFA-56009B637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491C789-B88F-7FD8-6D77-B4C2F259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41817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F947449-48B7-63E4-0116-710F2062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AEB03A-E9EC-370B-A491-ABE2DC1A8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6F9BB55-6ABE-C5E8-4076-C0C4FB88D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92B3777-0DAB-2111-6D8B-D1D86118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E9811AF-8F99-36B8-7E77-21AD62A00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F9518E4-9614-4DFD-3DC3-3EADA23D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57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051856-E6A8-9E27-01B6-F2A122599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146A52FB-E640-D087-7A18-5AA422F1B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18D6D2B-2A2D-763A-084A-3C81918EF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9394CC5-0875-DABD-0FFA-858EA4C8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11844AE-34B0-4706-CC20-255135D9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7F40E35-A597-9271-9031-D2A8ACF9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7303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17CC9F-3525-B22B-4721-084CFDFD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D423D87B-2713-91B5-3AF4-5AEA5AE45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71F774-C7EA-816F-FA82-25CCEEEFF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8ADAD25-02A1-016C-8BEC-3CA8792B1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D47699-8CB5-02C2-AED5-2D393D83B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87755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7A7A365-B09F-39C7-AEB8-F492D40561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2DEA8E7-64EB-916E-38A9-682C35790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3993343-49BE-87A9-AF41-C030267F2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9DAF12-CA32-6158-3A28-985A780A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E585C3-CF58-18BC-F907-EA322220B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587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0B32A63-34DF-0251-B877-DAFDF6818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B272CB2-C4E8-7E59-FA93-B8985B782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BB2589F-F909-5C3C-870A-CEFFB4CE0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90488-F12D-4C4D-AD65-45FB1DE9AC79}" type="datetimeFigureOut">
              <a:rPr lang="tr-TR" smtClean="0"/>
              <a:t>18.08.2025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4E3C1CA-11A5-EDE2-FCAF-71BF07F0B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585940-9168-4C60-9F2C-75F88FCD2B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A94C2-3133-4841-9ABA-FA8314F82D0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6567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3FE714-AC4C-8A9D-8660-8F7A29C23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6642" y="1214438"/>
            <a:ext cx="8158716" cy="2387600"/>
          </a:xfrm>
        </p:spPr>
        <p:txBody>
          <a:bodyPr/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İstanbul’da Kiralık Konut Fiyat Tahmini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2C3FEE1-C074-635E-C02E-FA9A075E6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15543"/>
          </a:xfrm>
        </p:spPr>
        <p:txBody>
          <a:bodyPr>
            <a:normAutofit fontScale="92500" lnSpcReduction="20000"/>
          </a:bodyPr>
          <a:lstStyle/>
          <a:p>
            <a:b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YÖBİ4487.1 Özel Konular: Makine Öğrenmesi 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E0BF1A33-E419-B34D-8513-8C51A5233040}"/>
              </a:ext>
            </a:extLst>
          </p:cNvPr>
          <p:cNvSpPr txBox="1"/>
          <p:nvPr/>
        </p:nvSpPr>
        <p:spPr>
          <a:xfrm>
            <a:off x="4157424" y="4345172"/>
            <a:ext cx="38771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22yöbi1041     Çağan Hatun</a:t>
            </a:r>
          </a:p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23yöbi1039      İrem Arslan</a:t>
            </a:r>
          </a:p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20yöbi1011      Serdar Onur Karadağ</a:t>
            </a:r>
          </a:p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21yöbi1014      Bekir Kadir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Demiraslan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23yöbi1053      Tolga </a:t>
            </a:r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Olguner</a:t>
            </a:r>
            <a:endParaRPr lang="tr-T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08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314C85-280C-B18F-F5A5-A0E31D70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469"/>
            <a:ext cx="10515600" cy="939135"/>
          </a:xfrm>
        </p:spPr>
        <p:txBody>
          <a:bodyPr>
            <a:normAutofit/>
          </a:bodyPr>
          <a:lstStyle/>
          <a:p>
            <a:pPr algn="ctr"/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0B823A-6249-C128-14C2-91FB42B0C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İstanbul’daki kiralık konut ilanlarından elde edilen verileri kullanarak daire fiyatlarını tahmin eden bir regresyon modeli geliştirilmiştir. </a:t>
            </a:r>
          </a:p>
          <a:p>
            <a:pPr marL="0" indent="0">
              <a:buNone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Semt, oda sayısı, bina yaşı, metrekare gibi özellikler üzerinden fiyat tahmini yapılmıştır. </a:t>
            </a:r>
          </a:p>
          <a:p>
            <a:pPr marL="0" indent="0">
              <a:buNone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Proje, veri analizi, modelleme,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yorumlanabilirlik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etik farkındalık bileşenlerini içerecek şekilde yapılandırılmıştır. </a:t>
            </a:r>
          </a:p>
        </p:txBody>
      </p:sp>
    </p:spTree>
    <p:extLst>
      <p:ext uri="{BB962C8B-B14F-4D97-AF65-F5344CB8AC3E}">
        <p14:creationId xmlns:p14="http://schemas.microsoft.com/office/powerpoint/2010/main" val="247612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06C44E6-08B7-D1E2-8867-0EA10047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855"/>
            <a:ext cx="10515600" cy="811545"/>
          </a:xfrm>
        </p:spPr>
        <p:txBody>
          <a:bodyPr>
            <a:normAutofit/>
          </a:bodyPr>
          <a:lstStyle/>
          <a:p>
            <a:pPr algn="ctr"/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 Kümesi</a:t>
            </a:r>
          </a:p>
        </p:txBody>
      </p:sp>
      <p:pic>
        <p:nvPicPr>
          <p:cNvPr id="5" name="İçerik Yer Tutucusu 4" descr="metin, yazı tip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746E0CC-52A7-82E5-5557-D119C5F68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6" b="17173"/>
          <a:stretch>
            <a:fillRect/>
          </a:stretch>
        </p:blipFill>
        <p:spPr>
          <a:xfrm>
            <a:off x="559826" y="751367"/>
            <a:ext cx="10515600" cy="2161954"/>
          </a:xfrm>
          <a:ln>
            <a:solidFill>
              <a:schemeClr val="accent1"/>
            </a:solidFill>
          </a:ln>
        </p:spPr>
      </p:pic>
      <p:pic>
        <p:nvPicPr>
          <p:cNvPr id="7" name="Resim 6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77F01E3-99B4-E33C-CCCC-C99282852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86" y="3074582"/>
            <a:ext cx="9182679" cy="353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96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menü, doküman, belge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5DE0AC7-BB88-2A37-CDE1-485144C4A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459" y="604534"/>
            <a:ext cx="4473081" cy="5648932"/>
          </a:xfrm>
        </p:spPr>
      </p:pic>
    </p:spTree>
    <p:extLst>
      <p:ext uri="{BB962C8B-B14F-4D97-AF65-F5344CB8AC3E}">
        <p14:creationId xmlns:p14="http://schemas.microsoft.com/office/powerpoint/2010/main" val="3652315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410E6F8-169E-E901-0B86-6CFB9A415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11487"/>
            <a:ext cx="10515600" cy="2754943"/>
          </a:xfrm>
        </p:spPr>
      </p:pic>
      <p:pic>
        <p:nvPicPr>
          <p:cNvPr id="7" name="Resim 6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612A104-684C-6346-A775-267E22B39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756" y="3365205"/>
            <a:ext cx="9040487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2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418E8E27-30A2-70CA-8884-03210D842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99" y="552048"/>
            <a:ext cx="8973802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0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88A03B7-B760-D0EC-1DA1-C9CE288C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20" y="985496"/>
            <a:ext cx="9030960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44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BC1A1C0-1404-6AE7-2C54-C2B009757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455" y="439602"/>
            <a:ext cx="9291090" cy="597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89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952A3FE-0380-E942-D905-7DB3BADDE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2104840"/>
            <a:ext cx="10336067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21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A9DCC90C-BE58-68AC-D9DA-83B7AAF1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42" y="942628"/>
            <a:ext cx="7821116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0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8B575F2-F6A3-5037-7F4E-6E531C961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574" y="323417"/>
            <a:ext cx="6820852" cy="3105583"/>
          </a:xfrm>
        </p:spPr>
      </p:pic>
      <p:pic>
        <p:nvPicPr>
          <p:cNvPr id="7" name="Resim 6" descr="metin, yazı tip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FCDFFE1-D99D-1121-E42E-FFD43BCF3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258" y="3765886"/>
            <a:ext cx="6325483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41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diyagram, çizgi, metin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F1EF3A9-55EE-A26B-320C-1C2DC94817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28" y="1031635"/>
            <a:ext cx="7871944" cy="4794730"/>
          </a:xfrm>
        </p:spPr>
      </p:pic>
    </p:spTree>
    <p:extLst>
      <p:ext uri="{BB962C8B-B14F-4D97-AF65-F5344CB8AC3E}">
        <p14:creationId xmlns:p14="http://schemas.microsoft.com/office/powerpoint/2010/main" val="2901951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26EE228-DD23-A503-AA5C-772DC75CC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967" y="1299865"/>
            <a:ext cx="9612066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93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B5D3159-C636-20AA-D1A6-62E497466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1838103"/>
            <a:ext cx="1005027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43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034C7C0-8DEC-F69A-6C4D-82C5AF738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16" y="1104575"/>
            <a:ext cx="6030167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63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B1ADC8A-ADEB-6890-89C4-7B1E66DF8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3" y="229621"/>
            <a:ext cx="7661026" cy="1013869"/>
          </a:xfrm>
          <a:prstGeom prst="rect">
            <a:avLst/>
          </a:prstGeom>
        </p:spPr>
      </p:pic>
      <p:pic>
        <p:nvPicPr>
          <p:cNvPr id="7" name="Resim 6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FA42BBD-ECE2-0693-C711-902C3707B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911" y="1331740"/>
            <a:ext cx="1667108" cy="5296639"/>
          </a:xfrm>
          <a:prstGeom prst="rect">
            <a:avLst/>
          </a:prstGeom>
        </p:spPr>
      </p:pic>
      <p:pic>
        <p:nvPicPr>
          <p:cNvPr id="9" name="Resim 8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AC267D0-8531-94EE-5030-DFDE6475F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288" y="1595181"/>
            <a:ext cx="1667108" cy="4448796"/>
          </a:xfrm>
          <a:prstGeom prst="rect">
            <a:avLst/>
          </a:prstGeom>
        </p:spPr>
      </p:pic>
      <p:pic>
        <p:nvPicPr>
          <p:cNvPr id="11" name="Resim 10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D40AF6C-DCEF-C515-5759-1CB1CE28E2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769" y="1595181"/>
            <a:ext cx="1771897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41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039C650-7FAD-AFA7-A6C6-0B02505A4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361522"/>
            <a:ext cx="8278380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000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AAC4A19-C754-11A0-A6A4-0F8C2F35C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2100077"/>
            <a:ext cx="10355120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76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A24314AE-3F96-59C1-B117-D696141B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31" y="990259"/>
            <a:ext cx="7611537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03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6F6B7A20-BCA9-4F45-6A4F-FB911916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68" y="94784"/>
            <a:ext cx="7259063" cy="66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68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0E0D8C1-0C65-8929-F1C3-068B6E89A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520" y="480601"/>
            <a:ext cx="8668960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07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CAB5F3A-6F8F-7B64-FE0C-9DA186DB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992" y="701385"/>
            <a:ext cx="2086266" cy="203863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012A1758-078A-55C2-BDB4-36531A3CA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707" y="701385"/>
            <a:ext cx="2581635" cy="2010056"/>
          </a:xfrm>
          <a:prstGeom prst="rect">
            <a:avLst/>
          </a:prstGeom>
        </p:spPr>
      </p:pic>
      <p:pic>
        <p:nvPicPr>
          <p:cNvPr id="9" name="Resim 8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4F068CA-585F-432A-A0D2-4F909C431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360" y="2817145"/>
            <a:ext cx="2181529" cy="2086266"/>
          </a:xfrm>
          <a:prstGeom prst="rect">
            <a:avLst/>
          </a:prstGeom>
        </p:spPr>
      </p:pic>
      <p:pic>
        <p:nvPicPr>
          <p:cNvPr id="11" name="Resim 10" descr="metin, ekran görüntüsü, yazı tipi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7E717F9-45C2-D90E-165A-5C7040E4C7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707" y="2740020"/>
            <a:ext cx="5115639" cy="2019582"/>
          </a:xfrm>
          <a:prstGeom prst="rect">
            <a:avLst/>
          </a:prstGeom>
        </p:spPr>
      </p:pic>
      <p:pic>
        <p:nvPicPr>
          <p:cNvPr id="13" name="Resim 12" descr="metin, ekran görüntüsü, yazı tipi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913D7FD-0420-35EA-699F-943CC2EDD8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325" y="701385"/>
            <a:ext cx="1638529" cy="1752845"/>
          </a:xfrm>
          <a:prstGeom prst="rect">
            <a:avLst/>
          </a:prstGeom>
        </p:spPr>
      </p:pic>
      <p:pic>
        <p:nvPicPr>
          <p:cNvPr id="15" name="Resim 14" descr="metin, ekran görüntüsü, yazı tipi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5BC8EA2-8A6B-0050-2534-74777D6550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18" y="682664"/>
            <a:ext cx="1933845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78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3D17D3FE-BFB6-45D9-B9B1-2EE3C8E19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1004549"/>
            <a:ext cx="7668695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0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E58A937A-11AD-3293-43B0-8B9972C1F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833075"/>
            <a:ext cx="7592485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4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BBD0389D-2207-1679-BBAA-D9400405F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31" y="947391"/>
            <a:ext cx="7611537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4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830D6DDC-E5F2-E3C7-7CF5-113A68F0C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652" y="966444"/>
            <a:ext cx="7668695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01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9FF32D3-F9B2-B940-1DA4-E594C9FBD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38" y="1984766"/>
            <a:ext cx="8024724" cy="288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74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makbuz, yazı tipi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F2B2F75-6904-FD1C-302F-96CD5B0005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80415"/>
            <a:ext cx="3581900" cy="1448002"/>
          </a:xfrm>
        </p:spPr>
      </p:pic>
      <p:pic>
        <p:nvPicPr>
          <p:cNvPr id="7" name="Resim 6" descr="metin, makbuz, yazı tipi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1C5EC20-3570-8860-0FBB-5C3588ADB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430" y="2480415"/>
            <a:ext cx="3029373" cy="1438476"/>
          </a:xfrm>
          <a:prstGeom prst="rect">
            <a:avLst/>
          </a:prstGeom>
        </p:spPr>
      </p:pic>
      <p:pic>
        <p:nvPicPr>
          <p:cNvPr id="9" name="Resim 8" descr="metin, makbuz, yazı tipi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9E17DA3-1EF3-F96B-16FB-91171980D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690" y="2451836"/>
            <a:ext cx="3477110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093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ACBF559-B411-FF3A-CBC8-6F62BEB33D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348" y="1253331"/>
            <a:ext cx="7671304" cy="4351338"/>
          </a:xfrm>
        </p:spPr>
      </p:pic>
    </p:spTree>
    <p:extLst>
      <p:ext uri="{BB962C8B-B14F-4D97-AF65-F5344CB8AC3E}">
        <p14:creationId xmlns:p14="http://schemas.microsoft.com/office/powerpoint/2010/main" val="35394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çizg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A8960D6-126D-C05D-1E85-8ACA4E9B12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21" y="825116"/>
            <a:ext cx="4327646" cy="4351338"/>
          </a:xfrm>
        </p:spPr>
      </p:pic>
      <p:pic>
        <p:nvPicPr>
          <p:cNvPr id="7" name="Resim 6" descr="diyagram, metin, çizgi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7DF12F5-227B-FFE0-46F2-8C37FD1D8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068" y="1101563"/>
            <a:ext cx="5582429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960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çizg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CB68F9A-8B28-9873-B40A-F3960D46CF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743" y="923903"/>
            <a:ext cx="4303695" cy="4351338"/>
          </a:xfrm>
        </p:spPr>
      </p:pic>
      <p:pic>
        <p:nvPicPr>
          <p:cNvPr id="7" name="Resim 6" descr="diyagram, öykü gelişim çizgisi; kumpas; grafiğini çıkarma, çizg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0460CDE-B1C7-9266-AD87-3B022EC39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074" y="1255130"/>
            <a:ext cx="5449060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580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çizgi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04FFFAE-829E-0FE0-F8C5-F00696C09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83" y="911225"/>
            <a:ext cx="4343339" cy="4351338"/>
          </a:xfrm>
        </p:spPr>
      </p:pic>
      <p:pic>
        <p:nvPicPr>
          <p:cNvPr id="7" name="Resim 6" descr="metin, diyagram, öykü gelişim çizgisi; kumpas; grafiğini çıkarma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726B94A-47F4-541A-FF5A-F03DE0FB0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199" y="1086365"/>
            <a:ext cx="5325218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03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9505B08-79F2-D318-83EF-D63C5C443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571" y="1253331"/>
            <a:ext cx="4112088" cy="4351338"/>
          </a:xfrm>
        </p:spPr>
      </p:pic>
      <p:pic>
        <p:nvPicPr>
          <p:cNvPr id="7" name="Resim 6" descr="metin, ekran görüntüsü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20ADFA1-83F4-FD75-F21C-256D8B0C4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41" y="690180"/>
            <a:ext cx="5344271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44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diyagram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567C3ED-4D77-1DC2-8B46-F2FA0571E3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951" y="1480995"/>
            <a:ext cx="4115333" cy="4351338"/>
          </a:xfrm>
        </p:spPr>
      </p:pic>
      <p:pic>
        <p:nvPicPr>
          <p:cNvPr id="7" name="Resim 6" descr="metin, diyagram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0AE801B-FC80-8DA1-4A0D-D81DAEBBE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305" y="1480995"/>
            <a:ext cx="5334744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6831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835018A-0CAF-8958-E346-7CF0AAEF5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44"/>
          <a:stretch>
            <a:fillRect/>
          </a:stretch>
        </p:blipFill>
        <p:spPr>
          <a:xfrm>
            <a:off x="1342878" y="865058"/>
            <a:ext cx="4320732" cy="5127884"/>
          </a:xfrm>
        </p:spPr>
      </p:pic>
      <p:pic>
        <p:nvPicPr>
          <p:cNvPr id="7" name="Resim 6" descr="metin, yazı tipi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CEDABB8-3246-67A1-E3D6-5D4B1028B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63"/>
          <a:stretch>
            <a:fillRect/>
          </a:stretch>
        </p:blipFill>
        <p:spPr>
          <a:xfrm>
            <a:off x="6315739" y="2405204"/>
            <a:ext cx="4699590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911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A5C0C5-70A7-AC61-5C4E-96034177A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Sonuç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A9C7BE-22F5-B3E2-8826-E278D6213B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8719" y="1690688"/>
            <a:ext cx="985456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İstanbul’daki kiralık konut fiyatları için makine öğrenmesi tabanlı bir regresyon modeli geliştirildi.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Semt, metrekare, oda sayısı ve bina yaşı gibi değişkenlerin fiyat üzerinde belirleyici olduğu görüldü.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 fiyat tahminlerinde makul bir başarı göstermiştir.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 setinin sınırlılıkları ve dışsal ekonomik faktörler modelin doğruluğunu etkilemiştir.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Daha geniş veri setleri ve farklı algoritmalarla modelin performansı artırılabilir.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Proje, makine öğrenmesinin emlak sektöründe öngörü aracı olarak kullanılabileceğini ortaya koymuştur.</a:t>
            </a:r>
            <a:endParaRPr kumimoji="0" lang="tr-TR" altLang="tr-T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743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6A627F-95C5-B0B9-2CA5-C1F91BA5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Teşekkürler!</a:t>
            </a:r>
          </a:p>
        </p:txBody>
      </p:sp>
    </p:spTree>
    <p:extLst>
      <p:ext uri="{BB962C8B-B14F-4D97-AF65-F5344CB8AC3E}">
        <p14:creationId xmlns:p14="http://schemas.microsoft.com/office/powerpoint/2010/main" val="3557248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158</Words>
  <Application>Microsoft Office PowerPoint</Application>
  <PresentationFormat>Geniş ekran</PresentationFormat>
  <Paragraphs>25</Paragraphs>
  <Slides>37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Times New Roman</vt:lpstr>
      <vt:lpstr>Office Teması</vt:lpstr>
      <vt:lpstr>İstanbul’da Kiralık Konut Fiyat Tahmini</vt:lpstr>
      <vt:lpstr>Amaç</vt:lpstr>
      <vt:lpstr>Veri Kümesi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Sonuç</vt:lpstr>
      <vt:lpstr>Teşekkürler!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İrem Arslan</dc:creator>
  <cp:lastModifiedBy>İrem Arslan</cp:lastModifiedBy>
  <cp:revision>4</cp:revision>
  <dcterms:created xsi:type="dcterms:W3CDTF">2025-08-16T10:09:06Z</dcterms:created>
  <dcterms:modified xsi:type="dcterms:W3CDTF">2025-08-18T13:38:16Z</dcterms:modified>
</cp:coreProperties>
</file>